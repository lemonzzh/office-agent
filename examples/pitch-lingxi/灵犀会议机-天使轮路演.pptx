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64748B"/>
              </a:solidFill>
              <a:ln w="19050" cap="flat">
                <a:solidFill>
                  <a:srgbClr val="0B1B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研发 50%</c:v>
                </c:pt>
                <c:pt idx="1">
                  <c:v>市场 30%</c:v>
                </c:pt>
                <c:pt idx="2">
                  <c:v>运营 20%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15 秒说定位句，然后直接进痛点。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三个数字从左到右递进：时间投入、记录缺失、执行漏洞。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流程图从左到右：录→写→派→追；强调闭环二字，竞争页会回收。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同心圆讲分层：外圈 TAM、中圈 SAM、核心 SOM；左侧图例逐层解释。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一句话逻辑：硬件平进平出让客户零门槛，利润与留存都在订阅。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漏斗从上往下读：试点→付费 67%；右侧三个质量指标。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表格三行两列对比；最后一行是我们，用 ACCENT 强调闭环优势。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三张卡片各 20 秒：声学是硬壁垒，数据飞轮随时间变宽。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一人 20 秒，强调背景与岗位的强关联。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时间线四段，最后一个节点回到收入目标。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大数字开口：800 万、出让 10%；环形图讲用途，收在里程碑。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收在定位句，留问答。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194560"/>
            <a:ext cx="6217920" cy="621792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97680"/>
            <a:ext cx="3566160" cy="356616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1A34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LINGXI · 天使轮融资路演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90 分钟会议，变成 3 页行动清单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· 数据为示例，仅供演示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7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3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会议结束，执行才开始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但执行需要的信息，恰恰在最需要的时候丢了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18.6 小时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白领平均每周会议时长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60520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70832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30%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4370832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纪要覆盖率（有记录的会议占比）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74152" y="2103120"/>
            <a:ext cx="4572" cy="0"/>
          </a:xfrm>
          <a:prstGeom prst="line">
            <a:avLst/>
          </a:prstGeom>
          <a:noFill/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1920240"/>
            <a:ext cx="3657600" cy="847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42%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8284464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行动项遗漏率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会议的价值在会后 24 小时内流失 60% —— 记录工具解决不了跟进问题。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来源：团队 2026 年 8 月对 60 家企业调研（示例数据）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8" grpId="0"/>
      <p:bldP spid="11" grpId="0"/>
      <p:bldP spid="7" grpId="0"/>
      <p:bldP spid="10" grpId="0"/>
      <p:bldP spid="6" grpId="0"/>
      <p:bldP spid="9" grpId="0"/>
      <p:bldP spid="12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拾音硬件 + 执行闭环 SaaS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拾音转写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麦阵列 + 本地转写芯片，准确率优先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35808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401568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30168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30168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智能总结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630168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页纪要模板：结论/讨论/风险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980176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45936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74536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74536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行动项分发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74536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自动识别责任人，一键派发到企业微信/钉钉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924544" y="29718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9290304" y="21031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518904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518904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回执追踪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518904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未完成自动升级提醒，闭环率看板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57200" y="48920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硬件保证拾音质量，SaaS 完成从「记录」到「执行闭环」的最后一公里。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2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7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3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61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39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23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4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4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10" grpId="0"/>
      <p:bldP spid="15" grpId="0"/>
      <p:bldP spid="20" grpId="0"/>
      <p:bldP spid="6" grpId="0"/>
      <p:bldP spid="11" grpId="0"/>
      <p:bldP spid="16" grpId="0"/>
      <p:bldP spid="21" grpId="0"/>
      <p:bldP spid="7" grpId="0"/>
      <p:bldP spid="12" grpId="0"/>
      <p:bldP spid="17" grpId="0"/>
      <p:bldP spid="22" grpId="0"/>
      <p:bldP spid="9" grpId="0"/>
      <p:bldP spid="14" grpId="0"/>
      <p:bldP spid="19" grpId="0"/>
      <p:bldP spid="8" grpId="0"/>
      <p:bldP spid="13" grpId="0"/>
      <p:bldP spid="18" grpId="0"/>
      <p:bldP spid="23" grpId="0"/>
      <p:bldP spid="24" grpId="0"/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从智能会议终端切入的效率软件市场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4572000" cy="4572000"/>
          </a:xfrm>
          <a:prstGeom prst="ellipse">
            <a:avLst/>
          </a:prstGeom>
          <a:solidFill>
            <a:srgbClr val="12294A"/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12280" y="2377440"/>
            <a:ext cx="2834640" cy="2834640"/>
          </a:xfrm>
          <a:prstGeom prst="ellipse">
            <a:avLst/>
          </a:prstGeom>
          <a:solidFill>
            <a:srgbClr val="3B82F6">
              <a:alpha val="5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43800" y="3108960"/>
            <a:ext cx="1371600" cy="1371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766560" y="16733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400 亿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5328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60 亿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543800" y="32918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176272"/>
            <a:ext cx="201168" cy="20116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20116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 亿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383280" y="23042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TAM · 企业会议设备与效率软件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54787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33832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亿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3383280" y="36758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SAM · 智能会议终端与配套 SaaS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491947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754880"/>
            <a:ext cx="237744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亿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383280" y="504748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SOM · 三年可获取市场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估算（est.），基于公开行业报告口径 · 示例数据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4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7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1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7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9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12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32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77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1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27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55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840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14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4650"/>
                            </p:stCondLst>
                            <p:childTnLst>
                              <p:par>
                                <p:cTn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8" grpId="0"/>
      <p:bldP spid="12" grpId="0"/>
      <p:bldP spid="11" grpId="0"/>
      <p:bldP spid="13" grpId="0"/>
      <p:bldP spid="6" grpId="0"/>
      <p:bldP spid="9" grpId="0"/>
      <p:bldP spid="7" grpId="0"/>
      <p:bldP spid="10" grpId="0"/>
      <p:bldP spid="15" grpId="0"/>
      <p:bldP spid="14" grpId="0"/>
      <p:bldP spid="16" grpId="0"/>
      <p:bldP spid="18" grpId="0"/>
      <p:bldP spid="17" grpId="0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硬件获客，SaaS 赚钱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2,999 元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会议机（一次性）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按成本价销售，获客入口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7648" y="18288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3408" y="2148840"/>
            <a:ext cx="4572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万/年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93408" y="31272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 SaaS 订阅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693408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按企业授权，利润与留存载体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试点客单价 1.2 万/年 · NRR 118% —— 订阅驱动，客户越用越离不开。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6" grpId="0"/>
      <p:bldP spid="10" grpId="0"/>
      <p:bldP spid="7" grpId="0"/>
      <p:bldP spid="11" grpId="0"/>
      <p:bldP spid="8" grpId="0"/>
      <p:bldP spid="12" grpId="0"/>
      <p:bldP spid="13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早期验证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家试点企业，8 家付费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试点企业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24028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240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家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付费转化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3657600"/>
            <a:ext cx="7223760" cy="777240"/>
          </a:xfrm>
          <a:prstGeom prst="roundRect">
            <a:avLst>
              <a:gd name="adj" fmla="val 7059"/>
            </a:avLst>
          </a:prstGeom>
          <a:solidFill>
            <a:srgbClr val="3B82F6">
              <a:alpha val="4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6576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家 · 67%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7200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118%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7200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370832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76%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370832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周活跃使用率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84464" y="4846320"/>
            <a:ext cx="36576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1.2 万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84464" y="5413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平均客单价（万元/年）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试点期数据（示例）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6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5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22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51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92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45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11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8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76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77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90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1150"/>
                            </p:stCondLst>
                            <p:childTnLst>
                              <p:par>
                                <p:cTn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3" grpId="0"/>
      <p:bldP spid="15" grpId="0"/>
      <p:bldP spid="12" grpId="0"/>
      <p:bldP spid="14" grpId="0"/>
      <p:bldP spid="16" grpId="0"/>
      <p:bldP spid="17" grpId="0"/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我们不和转写工具比谁记得全，和没人跟进比谁让事落地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502152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维度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通用转写软件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智能会议平板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灵犀会议机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拾音质量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依赖设备麦克风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会议室定向阵列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 麦阵列 · 本地转写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行动项闭环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分发 · 回执追踪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部署成本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8FAF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单台 2 万起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59E0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硬件 2,999 · 订阅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差异化的本质：别人停在「记录」，灵犀走到「跟进」。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3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为什么是我们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三道壁垒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声学硬件壁垒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拾音阵列与转写芯片的联合调优，需要 3 年以上声学团队积累，纯软件公司难以复制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70832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45152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645152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闭环数据飞轮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45152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行动项完成数据反哺总结模型，用得越久总结越准——单点工具没有这个数据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84464" y="182880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58784" y="21031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558784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 Know-how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58784" y="32461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家企业调研沉淀的纪要模板与行动项识别规则，随行业扩展持续加厚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9" grpId="0"/>
      <p:bldP spid="13" grpId="0"/>
      <p:bldP spid="6" grpId="0"/>
      <p:bldP spid="10" grpId="0"/>
      <p:bldP spid="14" grpId="0"/>
      <p:bldP spid="7" grpId="0"/>
      <p:bldP spid="11" grpId="0"/>
      <p:bldP spid="15" grpId="0"/>
      <p:bldP spid="8" grpId="0"/>
      <p:bldP spid="12" grpId="0"/>
      <p:bldP spid="16" grpId="0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声学 × 企业服务 × AI，正好拼齐这件事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691640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16916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林一舟 · CEO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 SaaS 公司销售 VP，带队 0→8,000 家企业客户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05272" y="1783080"/>
            <a:ext cx="1097280" cy="10972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605272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370832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沈知远 · CTO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599432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前音频大厂声学负责人，主导三代拾音阵列量产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518904" y="1783080"/>
            <a:ext cx="1097280" cy="10972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9518904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84464" y="3108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顾言 · AI 负责人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13064" y="3566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前大厂算法专家，会议摘要方向 5 年积累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团队履历为示例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9" grpId="0"/>
      <p:bldP spid="10" grpId="0"/>
      <p:bldP spid="13" grpId="0"/>
      <p:bldP spid="14" grpId="0"/>
      <p:bldP spid="7" grpId="0"/>
      <p:bldP spid="11" grpId="0"/>
      <p:bldP spid="15" grpId="0"/>
      <p:bldP spid="8" grpId="0"/>
      <p:bldP spid="12" grpId="0"/>
      <p:bldP spid="16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从产品打磨到规模化复制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097280" y="3108960"/>
            <a:ext cx="9966960" cy="0"/>
          </a:xfrm>
          <a:prstGeom prst="line">
            <a:avLst/>
          </a:prstGeom>
          <a:noFill/>
          <a:ln w="19050">
            <a:solidFill>
              <a:srgbClr val="2446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1498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M0–M6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产品打磨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量产与首个 20 家标杆客户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7530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8"/>
          <p:cNvSpPr/>
          <p:nvPr/>
        </p:nvSpPr>
        <p:spPr>
          <a:xfrm>
            <a:off x="329184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M6–M10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29184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渠道验证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29184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两条代理渠道跑通模型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35624" y="30175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M10–M14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5216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规模投放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85216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销售团队扩至 15 人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695944" y="301752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8412480" y="2423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M14–M18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3429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家付费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12480" y="3886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营收 2,400 万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9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6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3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1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2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16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772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04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3200"/>
                            </p:stCondLst>
                            <p:childTnLst>
                              <p:par>
                                <p:cTn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7" grpId="0"/>
      <p:bldP spid="11" grpId="0"/>
      <p:bldP spid="15" grpId="0"/>
      <p:bldP spid="19" grpId="0"/>
      <p:bldP spid="6" grpId="0"/>
      <p:bldP spid="10" grpId="0"/>
      <p:bldP spid="14" grpId="0"/>
      <p:bldP spid="18" grpId="0"/>
      <p:bldP spid="5" grpId="0"/>
      <p:bldP spid="8" grpId="0"/>
      <p:bldP spid="12" grpId="0"/>
      <p:bldP spid="16" grpId="0"/>
      <p:bldP spid="20" grpId="0"/>
      <p:bldP spid="9" grpId="0"/>
      <p:bldP spid="13" grpId="0"/>
      <p:bldP spid="17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融资计划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天使轮 · 800 万元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828800"/>
            <a:ext cx="4206240" cy="1031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800 万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2926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出让 10%（示例条款）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个月里程碑：付费企业 200 家，营收 2,400 万。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852160" y="1463040"/>
          <a:ext cx="56692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示例数据，仅供演示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5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8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3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3" grpId="0"/>
      <p:bldP spid="5" grpId="0"/>
      <p:bldP spid="6" grpId="0"/>
      <p:bldP spid="7" grpId="0"/>
      <p:bldP spid="9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3291840"/>
            <a:ext cx="6035040" cy="6035040"/>
          </a:xfrm>
          <a:prstGeom prst="ellipse">
            <a:avLst/>
          </a:prstGeom>
          <a:solidFill>
            <a:srgbClr val="0B1B33">
              <a:alpha val="0"/>
            </a:srgbClr>
          </a:solidFill>
          <a:ln w="12700">
            <a:solidFill>
              <a:srgbClr val="244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5146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让每个会议，都有人跟进。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灵犀会议机 · contact@lingxi.example.com · 示例数据仅供演示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灵犀会议机 · 天使轮商业路演</dc:title>
  <dc:subject>PptxGenJS Presentation</dc:subject>
  <dc:creator>Office-Agent</dc:creator>
  <cp:lastModifiedBy>Office-Agent</cp:lastModifiedBy>
  <cp:revision>1</cp:revision>
  <dcterms:created xsi:type="dcterms:W3CDTF">2026-10-25T13:57:50Z</dcterms:created>
  <dcterms:modified xsi:type="dcterms:W3CDTF">2026-10-25T13:57:50Z</dcterms:modified>
</cp:coreProperties>
</file>