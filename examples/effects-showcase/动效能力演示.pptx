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季度营收（万元）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8FAFC"/>
                    </a:solidFill>
                    <a:latin typeface="微软雅黑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3150</c:v>
                </c:pt>
                <c:pt idx="1">
                  <c:v>3520</c:v>
                </c:pt>
                <c:pt idx="2">
                  <c:v>4280</c:v>
                </c:pt>
                <c:pt idx="3">
                  <c:v>5100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8FAFC"/>
                  </a:solidFill>
                  <a:latin typeface="微软雅黑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微软雅黑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B1B33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付费企业</c:v>
                </c:pt>
              </c:strCache>
            </c:strRef>
          </c:tx>
          <c:spPr>
            <a:solidFill>
              <a:srgbClr val="3B82F6"/>
            </a:solidFill>
            <a:ln w="31750" cap="flat">
              <a:solidFill>
                <a:srgbClr val="3B82F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B82F6"/>
              </a:solidFill>
              <a:ln w="9525" cap="flat">
                <a:solidFill>
                  <a:srgbClr val="3B82F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</c:v>
                </c:pt>
                <c:pt idx="1">
                  <c:v>14</c:v>
                </c:pt>
                <c:pt idx="2">
                  <c:v>22</c:v>
                </c:pt>
                <c:pt idx="3">
                  <c:v>35</c:v>
                </c:pt>
                <c:pt idx="4">
                  <c:v>52</c:v>
                </c:pt>
                <c:pt idx="5">
                  <c:v>80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流失企业</c:v>
                </c:pt>
              </c:strCache>
            </c:strRef>
          </c:tx>
          <c:spPr>
            <a:solidFill>
              <a:srgbClr val="F59E0B"/>
            </a:solidFill>
            <a:ln w="3175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微软雅黑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B355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微软雅黑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94A3B8"/>
              </a:solidFill>
              <a:latin typeface="微软雅黑"/>
              <a:cs typeface="微软雅黑"/>
            </a:defRPr>
          </a:pPr>
          <a:endParaRPr lang="en-US"/>
        </a:p>
      </c:txPr>
    </c:legend>
    <c:plotVisOnly val="1"/>
    <c:dispBlanksAs val="span"/>
  </c:chart>
  <c:spPr>
    <a:solidFill>
      <a:srgbClr val="0B1B33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封面：标题缩放进场。切换动效：zoom。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逐卡进场，每张卡片演示一种滤镜；切换动效：push。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KPI 脉冲、圆环旋转、文字变色、色条生长；切换动效：fade。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圆球往返、箭头平移；切换动效：cover。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图表自身支持按类/按系列构建；切换动效：wipe。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 click 触发：每点一下出一条；切换动效：split。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三个词先出现再退场，终句 fade 接上；切换动效：checkerboard。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切换动效：wheel。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title"/>
          <p:cNvSpPr/>
          <p:nvPr/>
        </p:nvSpPr>
        <p:spPr>
          <a:xfrm>
            <a:off x="0" y="2468880"/>
            <a:ext cx="12188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动效，也是叙事</a:t>
            </a:r>
            <a:endParaRPr lang="en-US" sz="6000" dirty="0"/>
          </a:p>
        </p:txBody>
      </p:sp>
      <p:sp>
        <p:nvSpPr>
          <p:cNvPr id="3" name="cover-sub"/>
          <p:cNvSpPr/>
          <p:nvPr/>
        </p:nvSpPr>
        <p:spPr>
          <a:xfrm>
            <a:off x="0" y="379476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FA6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切换 · 滤镜 · 强调 · 路径 · 图表构建 · 逐段文字 · 退场</a:t>
            </a:r>
            <a:endParaRPr lang="en-US" sz="1800" dirty="0"/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  <p:from x="30000" y="3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滤镜家族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同一张卡片，八种进场滤镜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63447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8</a:t>
            </a:r>
            <a:endParaRPr lang="en-US" sz="1200" dirty="0"/>
          </a:p>
        </p:txBody>
      </p:sp>
      <p:sp>
        <p:nvSpPr>
          <p:cNvPr id="6" name="fx-wheel"/>
          <p:cNvSpPr/>
          <p:nvPr/>
        </p:nvSpPr>
        <p:spPr>
          <a:xfrm>
            <a:off x="457200" y="1600200"/>
            <a:ext cx="2651760" cy="2057400"/>
          </a:xfrm>
          <a:prstGeom prst="roundRect">
            <a:avLst>
              <a:gd name="adj" fmla="val 3556"/>
            </a:avLst>
          </a:prstGeom>
          <a:solidFill>
            <a:srgbClr val="12294A"/>
          </a:solidFill>
          <a:ln w="9525">
            <a:solidFill>
              <a:srgbClr val="24466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2011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wheel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8580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轮辐</a:t>
            </a:r>
            <a:endParaRPr lang="en-US" sz="1400" dirty="0"/>
          </a:p>
        </p:txBody>
      </p:sp>
      <p:sp>
        <p:nvSpPr>
          <p:cNvPr id="9" name="fx-checker"/>
          <p:cNvSpPr/>
          <p:nvPr/>
        </p:nvSpPr>
        <p:spPr>
          <a:xfrm>
            <a:off x="3291840" y="1600200"/>
            <a:ext cx="2651760" cy="2057400"/>
          </a:xfrm>
          <a:prstGeom prst="roundRect">
            <a:avLst>
              <a:gd name="adj" fmla="val 3556"/>
            </a:avLst>
          </a:prstGeom>
          <a:solidFill>
            <a:srgbClr val="12294A"/>
          </a:solidFill>
          <a:ln w="9525">
            <a:solidFill>
              <a:srgbClr val="24466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520440" y="2011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checkerboard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352044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棋盘</a:t>
            </a:r>
            <a:endParaRPr lang="en-US" sz="1400" dirty="0"/>
          </a:p>
        </p:txBody>
      </p:sp>
      <p:sp>
        <p:nvSpPr>
          <p:cNvPr id="12" name="fx-blinds"/>
          <p:cNvSpPr/>
          <p:nvPr/>
        </p:nvSpPr>
        <p:spPr>
          <a:xfrm>
            <a:off x="6126480" y="1600200"/>
            <a:ext cx="2651760" cy="2057400"/>
          </a:xfrm>
          <a:prstGeom prst="roundRect">
            <a:avLst>
              <a:gd name="adj" fmla="val 3556"/>
            </a:avLst>
          </a:prstGeom>
          <a:solidFill>
            <a:srgbClr val="12294A"/>
          </a:solidFill>
          <a:ln w="9525">
            <a:solidFill>
              <a:srgbClr val="24466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55080" y="2011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blinds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635508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百叶窗</a:t>
            </a:r>
            <a:endParaRPr lang="en-US" sz="1400" dirty="0"/>
          </a:p>
        </p:txBody>
      </p:sp>
      <p:sp>
        <p:nvSpPr>
          <p:cNvPr id="15" name="fx-circle"/>
          <p:cNvSpPr/>
          <p:nvPr/>
        </p:nvSpPr>
        <p:spPr>
          <a:xfrm>
            <a:off x="8961120" y="1600200"/>
            <a:ext cx="2651760" cy="2057400"/>
          </a:xfrm>
          <a:prstGeom prst="roundRect">
            <a:avLst>
              <a:gd name="adj" fmla="val 3556"/>
            </a:avLst>
          </a:prstGeom>
          <a:solidFill>
            <a:srgbClr val="12294A"/>
          </a:solidFill>
          <a:ln w="9525">
            <a:solidFill>
              <a:srgbClr val="24466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89720" y="2011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circle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918972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圆形展开</a:t>
            </a:r>
            <a:endParaRPr lang="en-US" sz="1400" dirty="0"/>
          </a:p>
        </p:txBody>
      </p:sp>
      <p:sp>
        <p:nvSpPr>
          <p:cNvPr id="18" name="fx-strips"/>
          <p:cNvSpPr/>
          <p:nvPr/>
        </p:nvSpPr>
        <p:spPr>
          <a:xfrm>
            <a:off x="457200" y="3931920"/>
            <a:ext cx="2651760" cy="2057400"/>
          </a:xfrm>
          <a:prstGeom prst="roundRect">
            <a:avLst>
              <a:gd name="adj" fmla="val 3556"/>
            </a:avLst>
          </a:prstGeom>
          <a:solidFill>
            <a:srgbClr val="12294A"/>
          </a:solidFill>
          <a:ln w="9525">
            <a:solidFill>
              <a:srgbClr val="24466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5800" y="4343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strips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685800" y="4892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条带</a:t>
            </a:r>
            <a:endParaRPr lang="en-US" sz="1400" dirty="0"/>
          </a:p>
        </p:txBody>
      </p:sp>
      <p:sp>
        <p:nvSpPr>
          <p:cNvPr id="21" name="fx-dissolve"/>
          <p:cNvSpPr/>
          <p:nvPr/>
        </p:nvSpPr>
        <p:spPr>
          <a:xfrm>
            <a:off x="3291840" y="3931920"/>
            <a:ext cx="2651760" cy="2057400"/>
          </a:xfrm>
          <a:prstGeom prst="roundRect">
            <a:avLst>
              <a:gd name="adj" fmla="val 3556"/>
            </a:avLst>
          </a:prstGeom>
          <a:solidFill>
            <a:srgbClr val="12294A"/>
          </a:solidFill>
          <a:ln w="9525">
            <a:solidFill>
              <a:srgbClr val="24466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520440" y="4343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dissolveIn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3520440" y="4892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溶解</a:t>
            </a:r>
            <a:endParaRPr lang="en-US" sz="1400" dirty="0"/>
          </a:p>
        </p:txBody>
      </p:sp>
      <p:sp>
        <p:nvSpPr>
          <p:cNvPr id="24" name="fx-wedge"/>
          <p:cNvSpPr/>
          <p:nvPr/>
        </p:nvSpPr>
        <p:spPr>
          <a:xfrm>
            <a:off x="6126480" y="3931920"/>
            <a:ext cx="2651760" cy="2057400"/>
          </a:xfrm>
          <a:prstGeom prst="roundRect">
            <a:avLst>
              <a:gd name="adj" fmla="val 3556"/>
            </a:avLst>
          </a:prstGeom>
          <a:solidFill>
            <a:srgbClr val="12294A"/>
          </a:solidFill>
          <a:ln w="9525">
            <a:solidFill>
              <a:srgbClr val="24466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55080" y="4343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wedge</a:t>
            </a:r>
            <a:endParaRPr lang="en-US" sz="1900" dirty="0"/>
          </a:p>
        </p:txBody>
      </p:sp>
      <p:sp>
        <p:nvSpPr>
          <p:cNvPr id="26" name="Text 23"/>
          <p:cNvSpPr/>
          <p:nvPr/>
        </p:nvSpPr>
        <p:spPr>
          <a:xfrm>
            <a:off x="6355080" y="4892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扇形</a:t>
            </a:r>
            <a:endParaRPr lang="en-US" sz="1400" dirty="0"/>
          </a:p>
        </p:txBody>
      </p:sp>
      <p:sp>
        <p:nvSpPr>
          <p:cNvPr id="27" name="fx-randombar"/>
          <p:cNvSpPr/>
          <p:nvPr/>
        </p:nvSpPr>
        <p:spPr>
          <a:xfrm>
            <a:off x="8961120" y="3931920"/>
            <a:ext cx="2651760" cy="2057400"/>
          </a:xfrm>
          <a:prstGeom prst="roundRect">
            <a:avLst>
              <a:gd name="adj" fmla="val 3556"/>
            </a:avLst>
          </a:prstGeom>
          <a:solidFill>
            <a:srgbClr val="12294A"/>
          </a:solidFill>
          <a:ln w="9525">
            <a:solidFill>
              <a:srgbClr val="24466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189720" y="4343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randomBar</a:t>
            </a:r>
            <a:endParaRPr lang="en-US" sz="1900" dirty="0"/>
          </a:p>
        </p:txBody>
      </p:sp>
      <p:sp>
        <p:nvSpPr>
          <p:cNvPr id="29" name="Text 26"/>
          <p:cNvSpPr/>
          <p:nvPr/>
        </p:nvSpPr>
        <p:spPr>
          <a:xfrm>
            <a:off x="9189720" y="4892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随机条</a:t>
            </a:r>
            <a:endParaRPr lang="en-US" sz="14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presetID="2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presetID="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presetID="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presetID="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2" grpId="0"/>
      <p:bldP spid="15" grpId="0"/>
      <p:bldP spid="18" grpId="0"/>
      <p:bldP spid="21" grpId="0"/>
      <p:bldP spid="24" grpId="0"/>
      <p:bldP spid="2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强调效果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不改变可见性，让关键元素跳出来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63447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8</a:t>
            </a:r>
            <a:endParaRPr lang="en-US" sz="1200" dirty="0"/>
          </a:p>
        </p:txBody>
      </p:sp>
      <p:sp>
        <p:nvSpPr>
          <p:cNvPr id="6" name="kpi-main"/>
          <p:cNvSpPr/>
          <p:nvPr/>
        </p:nvSpPr>
        <p:spPr>
          <a:xfrm>
            <a:off x="822960" y="173736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128%</a:t>
            </a:r>
            <a:endParaRPr lang="en-US" sz="8000" dirty="0"/>
          </a:p>
        </p:txBody>
      </p:sp>
      <p:sp>
        <p:nvSpPr>
          <p:cNvPr id="7" name="Text 4"/>
          <p:cNvSpPr/>
          <p:nvPr/>
        </p:nvSpPr>
        <p:spPr>
          <a:xfrm>
            <a:off x="822960" y="3154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NRR 净收入留存</a:t>
            </a:r>
            <a:endParaRPr lang="en-US" sz="1500" dirty="0"/>
          </a:p>
        </p:txBody>
      </p:sp>
      <p:sp>
        <p:nvSpPr>
          <p:cNvPr id="8" name="ring-icon"/>
          <p:cNvSpPr/>
          <p:nvPr/>
        </p:nvSpPr>
        <p:spPr>
          <a:xfrm>
            <a:off x="5029200" y="1920240"/>
            <a:ext cx="1188720" cy="1188720"/>
          </a:xfrm>
          <a:prstGeom prst="ellipse">
            <a:avLst/>
          </a:prstGeom>
          <a:solidFill>
            <a:srgbClr val="0B1B33">
              <a:alpha val="0"/>
            </a:srgbClr>
          </a:solidFill>
          <a:ln w="38100">
            <a:solidFill>
              <a:srgbClr val="3B82F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26280" y="3246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spin · 旋转强调</a:t>
            </a:r>
            <a:endParaRPr lang="en-US" sz="1300" dirty="0"/>
          </a:p>
        </p:txBody>
      </p:sp>
      <p:sp>
        <p:nvSpPr>
          <p:cNvPr id="10" name="txt-color"/>
          <p:cNvSpPr/>
          <p:nvPr/>
        </p:nvSpPr>
        <p:spPr>
          <a:xfrm>
            <a:off x="7589520" y="19659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看我变色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7589520" y="2743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colorTo · 颜色强调</a:t>
            </a:r>
            <a:endParaRPr lang="en-US" sz="1300" dirty="0"/>
          </a:p>
        </p:txBody>
      </p:sp>
      <p:sp>
        <p:nvSpPr>
          <p:cNvPr id="12" name="bar-grow"/>
          <p:cNvSpPr/>
          <p:nvPr/>
        </p:nvSpPr>
        <p:spPr>
          <a:xfrm>
            <a:off x="7589520" y="3931920"/>
            <a:ext cx="2926080" cy="502920"/>
          </a:xfrm>
          <a:prstGeom prst="roundRect">
            <a:avLst>
              <a:gd name="adj" fmla="val 9091"/>
            </a:avLst>
          </a:prstGeom>
          <a:solidFill>
            <a:srgbClr val="3B82F6"/>
          </a:solidFill>
          <a:ln/>
        </p:spPr>
      </p:sp>
      <p:sp>
        <p:nvSpPr>
          <p:cNvPr id="13" name="Text 10"/>
          <p:cNvSpPr/>
          <p:nvPr/>
        </p:nvSpPr>
        <p:spPr>
          <a:xfrm>
            <a:off x="7589520" y="4526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grow · 生长强调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  <p:from x="30000" y="3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600" autoRev="1" repeatCount="2x"/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100"/>
                            </p:stCondLst>
                            <p:childTnLst>
                              <p:par>
                                <p:cTn presetID="8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" dur="1200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30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650"/>
                            </p:stCondLst>
                            <p:childTnLst>
                              <p:par>
                                <p:cTn presetID="1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6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59E0B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250"/>
                            </p:stCondLst>
                            <p:childTnLst>
                              <p:par>
                                <p:cTn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600" autoRev="1" repeatCount="2x"/>
                                        <p:tgtEl>
                                          <p:spTgt spid="12"/>
                                        </p:tgtEl>
                                      </p:cBhvr>
                                      <p:to x="118000" y="11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路径动画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move · 元素沿路径位移（autoRev 自动往返）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63447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8</a:t>
            </a:r>
            <a:endParaRPr lang="en-US" sz="1200" dirty="0"/>
          </a:p>
        </p:txBody>
      </p:sp>
      <p:sp>
        <p:nvSpPr>
          <p:cNvPr id="6" name="ball"/>
          <p:cNvSpPr/>
          <p:nvPr/>
        </p:nvSpPr>
        <p:spPr>
          <a:xfrm>
            <a:off x="1463040" y="2377440"/>
            <a:ext cx="1005840" cy="10058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3520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move autoRev</a:t>
            </a:r>
            <a:endParaRPr lang="en-US" sz="1300" dirty="0"/>
          </a:p>
        </p:txBody>
      </p:sp>
      <p:sp>
        <p:nvSpPr>
          <p:cNvPr id="8" name="arrow-move"/>
          <p:cNvSpPr/>
          <p:nvPr/>
        </p:nvSpPr>
        <p:spPr>
          <a:xfrm>
            <a:off x="1463040" y="45720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1005840" y="5349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move dx=0.3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754880" y="2286000"/>
            <a:ext cx="658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路径动画适合表达「流向」：</a:t>
            </a:r>
            <a:endParaRPr lang="en-US" sz="18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数据从采集端流向看板、</a:t>
            </a:r>
            <a:endParaRPr lang="en-US" sz="18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物料从仓库流向产线。</a:t>
            </a:r>
            <a:endParaRPr lang="en-US" sz="18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00"/>
                            </p:stCondLst>
                            <p:childTnLst>
                              <p:par>
                                <p:cTn presetID="0" presetClass="pat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EditMode="relative" path="M 0 0 L 0.32 -0.06 E" ptsTypes="AA">
                                      <p:cBhvr>
                                        <p:cTn id="8" dur="900" autoRev="1" repeatCount="3x"/>
                                        <p:tgtEl>
                                          <p:spTgt spid="6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0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presetID="0" presetClass="pat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EditMode="relative" path="M 0 0 L 0.3 0 E" ptsTypes="AA">
                                      <p:cBhvr>
                                        <p:cTn id="13" dur="800" autoRev="1" repeatCount="2x"/>
                                        <p:tgtEl>
                                          <p:spTgt spid="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图表构建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柱状图按 category 逐根升起 · 折线图按 series 逐条画出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63447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8</a:t>
            </a:r>
            <a:endParaRPr lang="en-US" sz="1200" dirty="0"/>
          </a:p>
        </p:txBody>
      </p:sp>
      <p:graphicFrame>
        <p:nvGraphicFramePr>
          <p:cNvPr id="6" name="chart-cat" descr=""/>
          <p:cNvGraphicFramePr/>
          <p:nvPr/>
        </p:nvGraphicFramePr>
        <p:xfrm>
          <a:off x="640080" y="1554480"/>
          <a:ext cx="54864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-ser" descr=""/>
          <p:cNvGraphicFramePr/>
          <p:nvPr/>
        </p:nvGraphicFramePr>
        <p:xfrm>
          <a:off x="6400800" y="1554480"/>
          <a:ext cx="53035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70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Chart bld="category" animBg="1"/>
        </p:bldSub>
      </p:bldGraphic>
      <p:bldGraphic spid="7" grpId="0">
        <p:bldSub>
          <a:bldChart bld="series" animBg="1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逐段文字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byPara · 要点逐条进场（点击节奏或自动级联）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63447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8</a:t>
            </a:r>
            <a:endParaRPr lang="en-US" sz="1200" dirty="0"/>
          </a:p>
        </p:txBody>
      </p:sp>
      <p:sp>
        <p:nvSpPr>
          <p:cNvPr id="6" name="bullets"/>
          <p:cNvSpPr/>
          <p:nvPr/>
        </p:nvSpPr>
        <p:spPr>
          <a:xfrm>
            <a:off x="1097280" y="2011680"/>
            <a:ext cx="9601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2200"/>
              </a:spcAft>
              <a:buSzPct val="100000"/>
              <a:buChar char="•"/>
            </a:pPr>
            <a:r>
              <a:rPr lang="en-US" sz="2200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数据要有来源，或标注 est.——不编造数字</a:t>
            </a:r>
            <a:endParaRPr lang="en-US" sz="2200" dirty="0"/>
          </a:p>
          <a:p>
            <a:pPr marL="152400" indent="-152400">
              <a:spcAft>
                <a:spcPts val="2200"/>
              </a:spcAft>
              <a:buSzPct val="100000"/>
              <a:buChar char="•"/>
            </a:pPr>
            <a:r>
              <a:rPr lang="en-US" sz="2200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每页只讲一个关键信息，标题写结论</a:t>
            </a:r>
            <a:endParaRPr lang="en-US" sz="2200" dirty="0"/>
          </a:p>
          <a:p>
            <a:pPr marL="152400" indent="-152400">
              <a:spcAft>
                <a:spcPts val="2200"/>
              </a:spcAft>
              <a:buSzPct val="100000"/>
              <a:buChar char="•"/>
            </a:pPr>
            <a:r>
              <a:rPr lang="en-US" sz="2200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动效为叙事服务：强调关键，而不是炫技</a:t>
            </a:r>
            <a:endParaRPr lang="en-US" sz="2200" dirty="0"/>
          </a:p>
          <a:p>
            <a:pPr marL="152400" indent="-152400">
              <a:spcAft>
                <a:spcPts val="2200"/>
              </a:spcAft>
              <a:buSzPct val="100000"/>
              <a:buChar char="•"/>
            </a:pPr>
            <a:r>
              <a:rPr lang="en-US" sz="2200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交付前必过 QA：程序化检查 + 视觉验收</a:t>
            </a:r>
            <a:endParaRPr lang="en-US" sz="2200" dirty="0"/>
          </a:p>
        </p:txBody>
      </p:sp>
    </p:spTree>
  </p:cSld>
  <p:clrMapOvr>
    <a:masterClrMapping/>
  </p:clrMapOvr>
  <p:transition spd="med">
    <p:split orient="horz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txEl>
                                            <p:pRg st="0" end="0"/>
                                          </p:txEl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350"/>
                                        <p:tgtEl>
                                          <p:txEl>
                                            <p:pRg st="0" end="0"/>
                                          </p:txEl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txEl>
                                            <p:pRg st="1" end="1"/>
                                          </p:txEl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txEl>
                                            <p:pRg st="1" end="1"/>
                                          </p:txEl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txEl>
                                            <p:pRg st="2" end="2"/>
                                          </p:txEl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txEl>
                                            <p:pRg st="2" end="2"/>
                                          </p:txEl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txEl>
                                            <p:pRg st="3" end="3"/>
                                          </p:txEl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txEl>
                                            <p:pRg st="3" end="3"/>
                                          </p:txEl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退场编排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50976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fadeOut / flyOut · 讲完即走，页面留白给结论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63447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8</a:t>
            </a:r>
            <a:endParaRPr lang="en-US" sz="1200" dirty="0"/>
          </a:p>
        </p:txBody>
      </p:sp>
      <p:sp>
        <p:nvSpPr>
          <p:cNvPr id="6" name="chip1"/>
          <p:cNvSpPr/>
          <p:nvPr/>
        </p:nvSpPr>
        <p:spPr>
          <a:xfrm>
            <a:off x="1280160" y="2194560"/>
            <a:ext cx="2286000" cy="1051560"/>
          </a:xfrm>
          <a:prstGeom prst="roundRect">
            <a:avLst>
              <a:gd name="adj" fmla="val 8696"/>
            </a:avLst>
          </a:prstGeom>
          <a:solidFill>
            <a:srgbClr val="12294A"/>
          </a:solidFill>
          <a:ln w="9525">
            <a:solidFill>
              <a:srgbClr val="24466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80160" y="219456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采集</a:t>
            </a:r>
            <a:endParaRPr lang="en-US" sz="2400" dirty="0"/>
          </a:p>
        </p:txBody>
      </p:sp>
      <p:sp>
        <p:nvSpPr>
          <p:cNvPr id="8" name="chip2"/>
          <p:cNvSpPr/>
          <p:nvPr/>
        </p:nvSpPr>
        <p:spPr>
          <a:xfrm>
            <a:off x="4937760" y="2194560"/>
            <a:ext cx="2286000" cy="1051560"/>
          </a:xfrm>
          <a:prstGeom prst="roundRect">
            <a:avLst>
              <a:gd name="adj" fmla="val 8696"/>
            </a:avLst>
          </a:prstGeom>
          <a:solidFill>
            <a:srgbClr val="12294A"/>
          </a:solidFill>
          <a:ln w="9525">
            <a:solidFill>
              <a:srgbClr val="2446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37760" y="219456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分析</a:t>
            </a:r>
            <a:endParaRPr lang="en-US" sz="2400" dirty="0"/>
          </a:p>
        </p:txBody>
      </p:sp>
      <p:sp>
        <p:nvSpPr>
          <p:cNvPr id="10" name="chip3"/>
          <p:cNvSpPr/>
          <p:nvPr/>
        </p:nvSpPr>
        <p:spPr>
          <a:xfrm>
            <a:off x="8595360" y="2194560"/>
            <a:ext cx="2286000" cy="1051560"/>
          </a:xfrm>
          <a:prstGeom prst="roundRect">
            <a:avLst>
              <a:gd name="adj" fmla="val 8696"/>
            </a:avLst>
          </a:prstGeom>
          <a:solidFill>
            <a:srgbClr val="12294A"/>
          </a:solidFill>
          <a:ln w="9525">
            <a:solidFill>
              <a:srgbClr val="24466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95360" y="219456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行动</a:t>
            </a:r>
            <a:endParaRPr lang="en-US" sz="2400" dirty="0"/>
          </a:p>
        </p:txBody>
      </p:sp>
      <p:sp>
        <p:nvSpPr>
          <p:cNvPr id="12" name="bye-icon"/>
          <p:cNvSpPr/>
          <p:nvPr/>
        </p:nvSpPr>
        <p:spPr>
          <a:xfrm>
            <a:off x="5806440" y="3977640"/>
            <a:ext cx="594360" cy="5943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final-msg"/>
          <p:cNvSpPr/>
          <p:nvPr/>
        </p:nvSpPr>
        <p:spPr>
          <a:xfrm>
            <a:off x="0" y="484632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剩下的，交给结论。</a:t>
            </a:r>
            <a:endParaRPr lang="en-US" sz="3400" dirty="0"/>
          </a:p>
        </p:txBody>
      </p:sp>
    </p:spTree>
  </p:cSld>
  <p:clrMapOvr>
    <a:masterClrMapping/>
  </p:clrMapOvr>
  <p:transition spd="med">
    <p:checkerboard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0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60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00"/>
                            </p:stCondLst>
                            <p:childTnLst>
                              <p:par>
                                <p:cTn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00"/>
                            </p:stCondLst>
                            <p:childTnLst>
                              <p:par>
                                <p:cTn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00"/>
                            </p:stCondLst>
                            <p:childTnLst>
                              <p:par>
                                <p:cTn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presetID="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10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2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nd-title"/>
          <p:cNvSpPr/>
          <p:nvPr/>
        </p:nvSpPr>
        <p:spPr>
          <a:xfrm>
            <a:off x="0" y="274320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600" kern="0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Office-Agent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0" y="379476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6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动效由 animate.py 注入 · anim.json 声明</a:t>
            </a:r>
            <a:endParaRPr lang="en-US" sz="1400" dirty="0"/>
          </a:p>
        </p:txBody>
      </p:sp>
    </p:spTree>
  </p:cSld>
  <p:clrMapOvr>
    <a:masterClrMapping/>
  </p:clrMapOvr>
  <p:transition spd="med">
    <p:wheel spokes="4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动效能力演示</dc:title>
  <dc:subject>PptxGenJS Presentation</dc:subject>
  <dc:creator>Office-Agent</dc:creator>
  <cp:lastModifiedBy>Office-Agent</cp:lastModifiedBy>
  <cp:revision>1</cp:revision>
  <dcterms:created xsi:type="dcterms:W3CDTF">2026-10-25T13:57:51Z</dcterms:created>
  <dcterms:modified xsi:type="dcterms:W3CDTF">2026-10-25T13:57:51Z</dcterms:modified>
</cp:coreProperties>
</file>