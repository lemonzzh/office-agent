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季度营收（万元）</c:v>
                </c:pt>
              </c:strCache>
            </c:strRef>
          </c:tx>
          <c:spPr>
            <a:solidFill>
              <a:srgbClr val="E85F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1EFEA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F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5F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79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79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 目标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3150</c:v>
                </c:pt>
                <c:pt idx="1">
                  <c:v>3520</c:v>
                </c:pt>
                <c:pt idx="2">
                  <c:v>4280</c:v>
                </c:pt>
                <c:pt idx="3">
                  <c:v>5100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1EFEA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8C0AC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2D3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单台成本结构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79D"/>
              </a:solidFill>
              <a:ln w="19050" cap="flat">
                <a:solidFill>
                  <a:srgbClr val="0A2D3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A7666"/>
              </a:solidFill>
              <a:ln w="19050" cap="flat">
                <a:solidFill>
                  <a:srgbClr val="0A2D33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85F4C"/>
              </a:solidFill>
              <a:ln w="19050" cap="flat">
                <a:solidFill>
                  <a:srgbClr val="0A2D33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F2A79D"/>
              </a:solidFill>
              <a:ln w="19050" cap="flat">
                <a:solidFill>
                  <a:srgbClr val="0A2D3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物流 34%</c:v>
                </c:pt>
                <c:pt idx="1">
                  <c:v>包材 22%</c:v>
                </c:pt>
                <c:pt idx="2">
                  <c:v>制造 31%</c:v>
                </c:pt>
                <c:pt idx="3">
                  <c:v>其他 13%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34</c:v>
                </c:pt>
                <c:pt idx="1">
                  <c:v>22</c:v>
                </c:pt>
                <c:pt idx="2">
                  <c:v>31</c:v>
                </c:pt>
                <c:pt idx="3">
                  <c:v>13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C8C0AC"/>
              </a:solidFill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solidFill>
      <a:srgbClr val="0A2D33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周度良率（%）</c:v>
                </c:pt>
              </c:strCache>
            </c:strRef>
          </c:tx>
          <c:spPr>
            <a:solidFill>
              <a:srgbClr val="E85F4C"/>
            </a:solidFill>
            <a:ln w="31750" cap="flat">
              <a:solidFill>
                <a:srgbClr val="E85F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5F4C"/>
              </a:solidFill>
              <a:ln w="9525" cap="flat">
                <a:solidFill>
                  <a:srgbClr val="E85F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93.8</c:v>
                </c:pt>
                <c:pt idx="1">
                  <c:v>94.6</c:v>
                </c:pt>
                <c:pt idx="2">
                  <c:v>95.5</c:v>
                </c:pt>
                <c:pt idx="3">
                  <c:v>96.3</c:v>
                </c:pt>
                <c:pt idx="4">
                  <c:v>96.9</c:v>
                </c:pt>
                <c:pt idx="5">
                  <c:v>97.2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C0AC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8"/>
          <c:min val="92"/>
        </c:scaling>
        <c:delete val="0"/>
        <c:axPos val="l"/>
        <c:majorGridlines>
          <c:spPr>
            <a:ln w="6350" cap="flat">
              <a:solidFill>
                <a:srgbClr val="104B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C0AC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2D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30 秒：先说结论——增长达标、成本超支、Q4 两件事。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三条结论对应三个章节：p4 营收、p5 成本、p8 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时间线从左到右讲，每件事一句话，重点停在 F2 上量。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先报大数字，再读图：Q3 4,280 万超目标；Q4E 为目标值非预测。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环形图讲结构：物流+包材合计 56%；右侧回答增量从哪来。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两个数字先说：97.2% 和 5.2 天；折线说明 9 月已稳定。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逐行读：问题→影响→归因；p8 的四项措施与前三行一一对应。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四张卡片各 20 秒：动作+目标；负责人当场确认，不另开会。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 5,100 万的构成：存量自然增长 + 两渠道 + 双十一；里程碑看下半页时间线。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备货是重点：8 万台对应日均 6,000+ 单峰值；履约和客服排班同步跟上。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收尾：重复一遍三条结论，留 10 分钟问答。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011680"/>
            <a:ext cx="5852160" cy="5852160"/>
          </a:xfrm>
          <a:prstGeom prst="ellipse">
            <a:avLst/>
          </a:prstGeom>
          <a:solidFill>
            <a:srgbClr val="0A2D33">
              <a:alpha val="0"/>
            </a:srgbClr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4480560"/>
            <a:ext cx="3291840" cy="3291840"/>
          </a:xfrm>
          <a:prstGeom prst="ellipse">
            <a:avLst/>
          </a:prstGeom>
          <a:solidFill>
            <a:srgbClr val="0A2D33">
              <a:alpha val="0"/>
            </a:srgbClr>
          </a:solidFill>
          <a:ln w="12700">
            <a:solidFill>
              <a:srgbClr val="1561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BB2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FEEDMEOW · 智能喂食器业务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 经营汇报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BB2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营收增长 · 成本归因 · Q4 行动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5897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BB2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汇报人：经营分析组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BB2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10 月 · 数据为示例，仅供演示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本期结论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先说结论，细节见后文对应章节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828800" y="160020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营收 4,280 万，同比增长 23%，超季度目标 5pct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828800" y="21671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新品上量与渠道扩张双驱动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898648"/>
            <a:ext cx="11274552" cy="0"/>
          </a:xfrm>
          <a:prstGeom prst="line">
            <a:avLst/>
          </a:prstGeom>
          <a:noFill/>
          <a:ln w="9525">
            <a:solidFill>
              <a:srgbClr val="1561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21868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7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1828800" y="317296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单台履约成本上升 9%，增量 78% 来自物流与包材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828800" y="373989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外部涨价 + 包材损耗率偏高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4471416"/>
            <a:ext cx="11274552" cy="0"/>
          </a:xfrm>
          <a:prstGeom prst="line">
            <a:avLst/>
          </a:prstGeom>
          <a:noFill/>
          <a:ln w="9525">
            <a:solidFill>
              <a:srgbClr val="1561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791456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1828800" y="474573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 主抓两件事：降本 1,500 万、扩张两条渠道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28800" y="531266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详见 p8 改进措施与 p9 目标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关键进展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 四件大事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005840" y="2834640"/>
            <a:ext cx="10149840" cy="0"/>
          </a:xfrm>
          <a:prstGeom prst="line">
            <a:avLst/>
          </a:prstGeom>
          <a:noFill/>
          <a:ln w="19050">
            <a:solidFill>
              <a:srgbClr val="1561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60704" y="2734056"/>
            <a:ext cx="201168" cy="201168"/>
          </a:xfrm>
          <a:prstGeom prst="ellipse">
            <a:avLst/>
          </a:prstGeom>
          <a:solidFill>
            <a:srgbClr val="E85F4C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月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新品上量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首月出货 3.2 万台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03904" y="2734056"/>
            <a:ext cx="201168" cy="201168"/>
          </a:xfrm>
          <a:prstGeom prst="ellipse">
            <a:avLst/>
          </a:prstGeom>
          <a:solidFill>
            <a:srgbClr val="E85F4C"/>
          </a:solidFill>
          <a:ln/>
        </p:spPr>
      </p:sp>
      <p:sp>
        <p:nvSpPr>
          <p:cNvPr id="11" name="Text 8"/>
          <p:cNvSpPr/>
          <p:nvPr/>
        </p:nvSpPr>
        <p:spPr>
          <a:xfrm>
            <a:off x="37490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7490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进驻头部渠道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490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京东自营 + 天猫旗舰店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47104" y="2734056"/>
            <a:ext cx="201168" cy="201168"/>
          </a:xfrm>
          <a:prstGeom prst="ellipse">
            <a:avLst/>
          </a:prstGeom>
          <a:solidFill>
            <a:srgbClr val="E85F4C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月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922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复购率 38%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922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环比 +6pct，订阅制贡献过半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290304" y="2734056"/>
            <a:ext cx="201168" cy="201168"/>
          </a:xfrm>
          <a:prstGeom prst="ellipse">
            <a:avLst/>
          </a:prstGeom>
          <a:solidFill>
            <a:srgbClr val="F2A79D"/>
          </a:solidFill>
          <a:ln/>
        </p:spPr>
      </p:sp>
      <p:sp>
        <p:nvSpPr>
          <p:cNvPr id="19" name="Text 16"/>
          <p:cNvSpPr/>
          <p:nvPr/>
        </p:nvSpPr>
        <p:spPr>
          <a:xfrm>
            <a:off x="92354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月末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2354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海外试点启动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2354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东南亚两国小批量试销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营收表现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增长来自量价齐升，F2 贡献 42% 出货</a:t>
            </a:r>
            <a:endParaRPr lang="en-US" sz="1400" dirty="0"/>
          </a:p>
        </p:txBody>
      </p:sp>
      <p:sp>
        <p:nvSpPr>
          <p:cNvPr id="5" name="kpi-growth"/>
          <p:cNvSpPr/>
          <p:nvPr/>
        </p:nvSpPr>
        <p:spPr>
          <a:xfrm>
            <a:off x="457200" y="1554480"/>
            <a:ext cx="3108960" cy="117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2A7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23%</a:t>
            </a:r>
            <a:endParaRPr lang="en-US" sz="6400" dirty="0"/>
          </a:p>
        </p:txBody>
      </p:sp>
      <p:sp>
        <p:nvSpPr>
          <p:cNvPr id="6" name="growth-label"/>
          <p:cNvSpPr/>
          <p:nvPr/>
        </p:nvSpPr>
        <p:spPr>
          <a:xfrm>
            <a:off x="45720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同比增长 · 超季度目标 5pct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 营收 4,280 万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环比 +21.6%</a:t>
            </a:r>
            <a:endParaRPr lang="en-US" sz="1800" dirty="0"/>
          </a:p>
        </p:txBody>
      </p:sp>
      <p:graphicFrame>
        <p:nvGraphicFramePr>
          <p:cNvPr id="8" name="chart-revenue" descr=""/>
          <p:cNvGraphicFramePr/>
          <p:nvPr/>
        </p:nvGraphicFramePr>
        <p:xfrm>
          <a:off x="4206240" y="1554480"/>
          <a:ext cx="7406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单台履约成本 213 元，同比 +9%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50876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214884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物流与包材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214884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占成本 56%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92240" y="1645920"/>
            <a:ext cx="292608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A7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78%</a:t>
            </a:r>
            <a:endParaRPr lang="en-US" sz="5600" dirty="0"/>
          </a:p>
        </p:txBody>
      </p:sp>
      <p:sp>
        <p:nvSpPr>
          <p:cNvPr id="9" name="Text 5"/>
          <p:cNvSpPr/>
          <p:nvPr/>
        </p:nvSpPr>
        <p:spPr>
          <a:xfrm>
            <a:off x="6492240" y="2788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成本增量中物流与包材的占比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92240" y="3429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物流费上涨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49224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快运单价 Q3 环比 +12%，大件抛比吃亏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492240" y="4572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包材损耗率高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9224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包装兼容旧模具，破损率 3.1%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产能与交付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良率爬坡符合预期，交付周期回到常态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600200"/>
            <a:ext cx="384048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97.2%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2724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良率（9 月末）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384048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4.8 天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457200" y="4690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平均交付周期（较 Q2 -1.2 天）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754880" y="155448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4754880" y="60533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良率爬坡 · 周度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问题与归因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三大问题，都有明确的动作指向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06240" y="1463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0" y="14630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归因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7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快运物流费上涨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206240" y="1965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履约成本 +34 元/台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0" y="1965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大件网络议价能力弱，单一供应商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11274552" cy="0"/>
          </a:xfrm>
          <a:prstGeom prst="line">
            <a:avLst/>
          </a:prstGeom>
          <a:noFill/>
          <a:ln w="9525">
            <a:solidFill>
              <a:srgbClr val="1561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7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包材损耗率 3.1%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206240" y="3383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报废 + 售后双损失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0" y="3383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沿用旧模具，缓冲结构不匹配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4434840"/>
            <a:ext cx="11274552" cy="0"/>
          </a:xfrm>
          <a:prstGeom prst="line">
            <a:avLst/>
          </a:prstGeom>
          <a:noFill/>
          <a:ln w="9525">
            <a:solidFill>
              <a:srgbClr val="1561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800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7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渠道返利挤压毛利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206240" y="4800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头部渠道毛利率 -4pct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0" y="4800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返利阶梯设置滞后于规模增长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改进措施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四项降本行动，目标合计 -1,500 万/年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0E3F48"/>
          </a:solidFill>
          <a:ln w="9525">
            <a:solidFill>
              <a:srgbClr val="15616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856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物流招标重谈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引入两家快运比价，目标 -18%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136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7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供应链部 · 11 月中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0E3F48"/>
          </a:solidFill>
          <a:ln w="9525">
            <a:solidFill>
              <a:srgbClr val="15616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0" y="1856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包材 V2 减重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675120" y="2377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新模具 + 减重 15%，损耗 ≤1.5%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75120" y="3136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7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包装组 · 12 月上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0690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0E3F48"/>
          </a:solidFill>
          <a:ln w="9525">
            <a:solidFill>
              <a:srgbClr val="15616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" y="4325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自建华东仓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77240" y="4846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区域仓发替代跨省直发，运费 -22%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77240" y="5605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7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履约组 · Q4 末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55080" y="40690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0E3F48"/>
          </a:solidFill>
          <a:ln w="9525">
            <a:solidFill>
              <a:srgbClr val="15616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75120" y="4325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返利政策调整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675120" y="4846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阶梯与规模挂钩，毛利 +2pct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675120" y="5605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7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销售运营 · 11 月下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 计划与目标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一个营收目标，两条增长线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3657600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7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5,100 万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 营收目标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370832" y="1554480"/>
            <a:ext cx="3657600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条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370832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新增头部渠道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84464" y="1554480"/>
            <a:ext cx="3657600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-1,500 万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84464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年化降本目标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88720" y="3977640"/>
            <a:ext cx="9784080" cy="0"/>
          </a:xfrm>
          <a:prstGeom prst="line">
            <a:avLst/>
          </a:prstGeom>
          <a:noFill/>
          <a:ln w="19050">
            <a:solidFill>
              <a:srgbClr val="15616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43000" y="3886200"/>
            <a:ext cx="182880" cy="182880"/>
          </a:xfrm>
          <a:prstGeom prst="ellipse">
            <a:avLst/>
          </a:prstGeom>
          <a:solidFill>
            <a:srgbClr val="E85F4C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月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物流新约生效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593592" y="3886200"/>
            <a:ext cx="182880" cy="182880"/>
          </a:xfrm>
          <a:prstGeom prst="ellipse">
            <a:avLst/>
          </a:prstGeom>
          <a:solidFill>
            <a:srgbClr val="E85F4C"/>
          </a:solidFill>
          <a:ln/>
        </p:spPr>
      </p:sp>
      <p:sp>
        <p:nvSpPr>
          <p:cNvPr id="16" name="Text 13"/>
          <p:cNvSpPr/>
          <p:nvPr/>
        </p:nvSpPr>
        <p:spPr>
          <a:xfrm>
            <a:off x="3364992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月中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64992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 A 上线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44184" y="3886200"/>
            <a:ext cx="182880" cy="182880"/>
          </a:xfrm>
          <a:prstGeom prst="ellipse">
            <a:avLst/>
          </a:prstGeom>
          <a:solidFill>
            <a:srgbClr val="F2A79D"/>
          </a:solidFill>
          <a:ln/>
        </p:spPr>
      </p:sp>
      <p:sp>
        <p:nvSpPr>
          <p:cNvPr id="19" name="Text 16"/>
          <p:cNvSpPr/>
          <p:nvPr/>
        </p:nvSpPr>
        <p:spPr>
          <a:xfrm>
            <a:off x="5815584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月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815584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华东仓投产; 双十一复盘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494776" y="3886200"/>
            <a:ext cx="182880" cy="182880"/>
          </a:xfrm>
          <a:prstGeom prst="ellipse">
            <a:avLst/>
          </a:prstGeom>
          <a:solidFill>
            <a:srgbClr val="E85F4C"/>
          </a:solidFill>
          <a:ln/>
        </p:spPr>
      </p:sp>
      <p:sp>
        <p:nvSpPr>
          <p:cNvPr id="22" name="Text 19"/>
          <p:cNvSpPr/>
          <p:nvPr/>
        </p:nvSpPr>
        <p:spPr>
          <a:xfrm>
            <a:off x="8266176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月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266176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年度目标锁定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双十一备战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11.11 大促倒计时 3 周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420624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7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万台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备货目标（含 15% 安全库存）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20640" y="1737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备货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92240" y="1737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产线 11 月初拉满，11.1 前入库 6.5 万台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120640" y="2697480"/>
            <a:ext cx="6611112" cy="0"/>
          </a:xfrm>
          <a:prstGeom prst="line">
            <a:avLst/>
          </a:prstGeom>
          <a:noFill/>
          <a:ln w="9525">
            <a:solidFill>
              <a:srgbClr val="1561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92240" y="3063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两渠道大促资源位与坑位费已确认，主推 F2 套装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120640" y="4023360"/>
            <a:ext cx="6611112" cy="0"/>
          </a:xfrm>
          <a:prstGeom prst="line">
            <a:avLst/>
          </a:prstGeom>
          <a:noFill/>
          <a:ln w="9525">
            <a:solidFill>
              <a:srgbClr val="1561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4389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F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履约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92240" y="4389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华东仓 11.1 投产赶上大促，临时人力 +40%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8C0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474720"/>
            <a:ext cx="5669280" cy="5669280"/>
          </a:xfrm>
          <a:prstGeom prst="ellipse">
            <a:avLst/>
          </a:prstGeom>
          <a:solidFill>
            <a:srgbClr val="0A2D33">
              <a:alpha val="0"/>
            </a:srgbClr>
          </a:solidFill>
          <a:ln w="12700">
            <a:solidFill>
              <a:srgbClr val="1561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1EF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BB2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明细数据见经营看板 · 示例数据仅供演示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经营汇报 — 智能喂食器业务</dc:title>
  <dc:subject>PptxGenJS Presentation</dc:subject>
  <dc:creator>Office-Agent</dc:creator>
  <cp:lastModifiedBy>Office-Agent</cp:lastModifiedBy>
  <cp:revision>1</cp:revision>
  <dcterms:created xsi:type="dcterms:W3CDTF">2026-10-25T12:16:09Z</dcterms:created>
  <dcterms:modified xsi:type="dcterms:W3CDTF">2026-10-25T12:16:09Z</dcterms:modified>
</cp:coreProperties>
</file>