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季度营收（万元）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E293B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8C0D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 目标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3150</c:v>
                </c:pt>
                <c:pt idx="1">
                  <c:v>3520</c:v>
                </c:pt>
                <c:pt idx="2">
                  <c:v>4280</c:v>
                </c:pt>
                <c:pt idx="3">
                  <c:v>5100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E293B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单台成本结构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590C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2540A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1F3A5F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A8C0DC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物流 34%</c:v>
                </c:pt>
                <c:pt idx="1">
                  <c:v>包材 22%</c:v>
                </c:pt>
                <c:pt idx="2">
                  <c:v>制造 31%</c:v>
                </c:pt>
                <c:pt idx="3">
                  <c:v>其他 13%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34</c:v>
                </c:pt>
                <c:pt idx="1">
                  <c:v>22</c:v>
                </c:pt>
                <c:pt idx="2">
                  <c:v>31</c:v>
                </c:pt>
                <c:pt idx="3">
                  <c:v>13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4748B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周度良率（%）</c:v>
                </c:pt>
              </c:strCache>
            </c:strRef>
          </c:tx>
          <c:spPr>
            <a:solidFill>
              <a:srgbClr val="1F3A5F"/>
            </a:solidFill>
            <a:ln w="31750" cap="flat">
              <a:solidFill>
                <a:srgbClr val="1F3A5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A5F"/>
              </a:solidFill>
              <a:ln w="9525" cap="flat">
                <a:solidFill>
                  <a:srgbClr val="1F3A5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93.8</c:v>
                </c:pt>
                <c:pt idx="1">
                  <c:v>94.6</c:v>
                </c:pt>
                <c:pt idx="2">
                  <c:v>95.5</c:v>
                </c:pt>
                <c:pt idx="3">
                  <c:v>96.3</c:v>
                </c:pt>
                <c:pt idx="4">
                  <c:v>96.9</c:v>
                </c:pt>
                <c:pt idx="5">
                  <c:v>97.2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8"/>
          <c:min val="92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30 秒：先说结论——增长达标、成本超支、Q4 两件事。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三条结论对应三个章节：p4 营收、p5 成本、p8 行动。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时间线从左到右讲，每件事一句话，重点停在 F2 上量。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先报大数字，再读图：Q3 4,280 万超目标；Q4E 为目标值非预测。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环形图讲结构：物流+包材合计 56%；右侧回答增量从哪来。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两个数字先说：97.2% 和 5.2 天；折线说明 9 月已稳定。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逐行读：问题→影响→归因；p8 的四项措施与前三行一一对应。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四张卡片各 20 秒：动作+目标；负责人当场确认，不另开会。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目标 5,100 万的构成：存量自然增长 + 两渠道 + 双十一；里程碑看下半页时间线。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备货是重点：8 万台对应日均 6,000+ 单峰值；履约和客服排班同步跟上。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收尾：重复一遍三条结论，留 10 分钟问答。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5852160" cy="585216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480560"/>
            <a:ext cx="3291840" cy="329184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FEEDMEOW · 智能喂食器业务</a:t>
            </a:r>
            <a:endParaRPr lang="en-US" sz="1300" dirty="0"/>
          </a:p>
        </p:txBody>
      </p:sp>
      <p:pic>
        <p:nvPicPr>
          <p:cNvPr id="5" name="Image 0" descr="assets/glow.png">    </p:cNvPr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-1005840" y="1371600"/>
            <a:ext cx="77724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33172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经营汇报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营收增长 · 成本归因 · Q4 行动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57200" y="5897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汇报人：经营分析组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 · 数据为示例，仅供演示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3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4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43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9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4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7" grpId="0"/>
      <p:bldP spid="3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本期结论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先说结论，细节见后文对应章节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828800" y="160020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 4,280 万，同比增长 23%，超季度目标 5pct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1828800" y="216712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新品上量与渠道扩张双驱动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898648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218688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1828800" y="317296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单台履约成本上升 9%，增量 78% 来自物流与包材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1828800" y="3739896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外部涨价 + 包材损耗率偏高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4471416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791456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1828800" y="4745736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主抓两件事：降本 1,500 万、扩张两条渠道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28800" y="5312664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详见 p8 改进措施与 p9 目标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3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4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61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8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  <p:bldP spid="5" grpId="0"/>
      <p:bldP spid="7" grpId="0"/>
      <p:bldP spid="8" grpId="0"/>
      <p:bldP spid="10" grpId="0"/>
      <p:bldP spid="9" grpId="0"/>
      <p:bldP spid="11" grpId="0"/>
      <p:bldP spid="12" grpId="0"/>
      <p:bldP spid="14" grpId="0"/>
      <p:bldP spid="13" grpId="0"/>
      <p:bldP spid="15" grpId="0"/>
      <p:bldP spid="16" grpId="0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关键进展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四件大事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19050">
            <a:solidFill>
              <a:srgbClr val="D7DEE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07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月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058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新品上量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058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首月出货 3.2 万台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8039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1" name="Text 8"/>
          <p:cNvSpPr/>
          <p:nvPr/>
        </p:nvSpPr>
        <p:spPr>
          <a:xfrm>
            <a:off x="37490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7490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进驻头部渠道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490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京东自营 + 天猫旗舰店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471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5" name="Text 12"/>
          <p:cNvSpPr/>
          <p:nvPr/>
        </p:nvSpPr>
        <p:spPr>
          <a:xfrm>
            <a:off x="64922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月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922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复购率 38%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922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环比 +6pct，订阅制贡献过半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290304" y="2734056"/>
            <a:ext cx="201168" cy="201168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9" name="Text 16"/>
          <p:cNvSpPr/>
          <p:nvPr/>
        </p:nvSpPr>
        <p:spPr>
          <a:xfrm>
            <a:off x="92354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月末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2354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海外试点启动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92354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东南亚两国小批量试销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5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68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5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1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43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61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8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21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43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6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9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7" grpId="0"/>
      <p:bldP spid="11" grpId="0"/>
      <p:bldP spid="15" grpId="0"/>
      <p:bldP spid="19" grpId="0"/>
      <p:bldP spid="6" grpId="0"/>
      <p:bldP spid="10" grpId="0"/>
      <p:bldP spid="14" grpId="0"/>
      <p:bldP spid="18" grpId="0"/>
      <p:bldP spid="5" grpId="0"/>
      <p:bldP spid="8" grpId="0"/>
      <p:bldP spid="12" grpId="0"/>
      <p:bldP spid="16" grpId="0"/>
      <p:bldP spid="20" grpId="0"/>
      <p:bldP spid="9" grpId="0"/>
      <p:bldP spid="13" grpId="0"/>
      <p:bldP spid="17" grpId="0"/>
      <p:bldP spid="21" grpId="0"/>
      <p:bldP spid="22" grpId="0"/>
      <p:bldP spid="2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营收表现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增长来自量价齐升，F2 贡献 42% 出货</a:t>
            </a:r>
            <a:endParaRPr lang="en-US" sz="1400" dirty="0"/>
          </a:p>
        </p:txBody>
      </p:sp>
      <p:sp>
        <p:nvSpPr>
          <p:cNvPr id="5" name="kpi-growth"/>
          <p:cNvSpPr/>
          <p:nvPr/>
        </p:nvSpPr>
        <p:spPr>
          <a:xfrm>
            <a:off x="457200" y="1554480"/>
            <a:ext cx="3108960" cy="117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23%</a:t>
            </a:r>
            <a:endParaRPr lang="en-US" sz="6400" dirty="0"/>
          </a:p>
        </p:txBody>
      </p:sp>
      <p:sp>
        <p:nvSpPr>
          <p:cNvPr id="6" name="growth-label"/>
          <p:cNvSpPr/>
          <p:nvPr/>
        </p:nvSpPr>
        <p:spPr>
          <a:xfrm>
            <a:off x="45720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同比增长 · 超季度目标 5pct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206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营收 4,280 万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环比 +21.6%</a:t>
            </a:r>
            <a:endParaRPr lang="en-US" sz="1800" dirty="0"/>
          </a:p>
        </p:txBody>
      </p:sp>
      <p:graphicFrame>
        <p:nvGraphicFramePr>
          <p:cNvPr id="8" name="chart-revenue" descr=""/>
          <p:cNvGraphicFramePr/>
          <p:nvPr/>
        </p:nvGraphicFramePr>
        <p:xfrm>
          <a:off x="4206240" y="1554480"/>
          <a:ext cx="74066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成本问题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单台履约成本 213 元，同比 +9%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1508760"/>
          <a:ext cx="5120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2148840" y="3246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物流与包材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214884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占成本 56%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92240" y="1645920"/>
            <a:ext cx="2926080" cy="1031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78%</a:t>
            </a:r>
            <a:endParaRPr lang="en-US" sz="5600" dirty="0"/>
          </a:p>
        </p:txBody>
      </p:sp>
      <p:sp>
        <p:nvSpPr>
          <p:cNvPr id="9" name="Text 5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成本增量中物流与包材的占比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492240" y="3429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物流费上涨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6492240" y="3840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快运单价 Q3 环比 +12%，大件抛比吃亏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92240" y="4572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包材损耗率高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49224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包装兼容旧模具，破损率 3.1%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8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1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8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99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18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3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6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  <p:bldP spid="6" grpId="0"/>
      <p:bldP spid="10" grpId="0"/>
      <p:bldP spid="7" grpId="0"/>
      <p:bldP spid="11" grpId="0"/>
      <p:bldP spid="12" grpId="0"/>
      <p:bldP spid="13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产能与交付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良率爬坡符合预期，交付周期回到常态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600200"/>
            <a:ext cx="384048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97.2%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57200" y="27249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良率（9 月末）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566160"/>
            <a:ext cx="384048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4.8 天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457200" y="469087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平均交付周期（较 Q2 -1.2 天）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754880" y="1554480"/>
          <a:ext cx="68580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/>
          <p:nvPr/>
        </p:nvSpPr>
        <p:spPr>
          <a:xfrm>
            <a:off x="4754880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良率爬坡 · 周度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7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1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7" grpId="0"/>
      <p:bldP spid="8" grpId="0"/>
      <p:bldP spid="10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问题与归因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三大问题，都有明确的动作指向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4630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206240" y="14630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0" y="14630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快运物流费上涨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206240" y="1965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履约成本 +34 元/台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0" y="1965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大件网络议价能力弱，单一供应商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3017520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383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包材损耗率 3.1%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06240" y="3383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报废 + 售后双损失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0" y="33832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沿用旧模具，缓冲结构不匹配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4434840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4800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渠道返利挤压毛利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206240" y="4800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头部渠道毛利率 -4pct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29600" y="4800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返利阶梯设置滞后于规模增长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4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3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7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9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1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改进措施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四项降本行动，目标合计 -1,500 万/年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562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物流招标重谈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77240" y="23774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引入两家快运比价，目标 -18%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136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供应链部 · 11 月中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55080" y="160020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75120" y="18562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 V2 减重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675120" y="23774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新模具 + 减重 15%，损耗 ≤1.5%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675120" y="3136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包装组 · 12 月上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40690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325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自建华东仓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77724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区域仓发替代跨省直发，运费 -22%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77240" y="5605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履约组 · Q4 末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355080" y="40690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675120" y="4325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返利政策调整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67512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阶梯与规模挂钩，毛利 +2pct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675120" y="5605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销售运营 · 11 月下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1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2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5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6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22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43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5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88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13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40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68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97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285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61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9" grpId="0"/>
      <p:bldP spid="6" grpId="0"/>
      <p:bldP spid="10" grpId="0"/>
      <p:bldP spid="7" grpId="0"/>
      <p:bldP spid="11" grpId="0"/>
      <p:bldP spid="8" grpId="0"/>
      <p:bldP spid="12" grpId="0"/>
      <p:bldP spid="13" grpId="0"/>
      <p:bldP spid="17" grpId="0"/>
      <p:bldP spid="14" grpId="0"/>
      <p:bldP spid="18" grpId="0"/>
      <p:bldP spid="15" grpId="0"/>
      <p:bldP spid="19" grpId="0"/>
      <p:bldP spid="16" grpId="0"/>
      <p:bldP spid="20" grpId="0"/>
      <p:bldP spid="21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计划与目标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一个营收目标，两条增长线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5,100 万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营收目标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370832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条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4370832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新增头部渠道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84464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-1,500 万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284464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年化降本目标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88720" y="3977640"/>
            <a:ext cx="9784080" cy="0"/>
          </a:xfrm>
          <a:prstGeom prst="line">
            <a:avLst/>
          </a:prstGeom>
          <a:noFill/>
          <a:ln w="19050">
            <a:solidFill>
              <a:srgbClr val="D7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月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物流新约生效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593592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6" name="Text 13"/>
          <p:cNvSpPr/>
          <p:nvPr/>
        </p:nvSpPr>
        <p:spPr>
          <a:xfrm>
            <a:off x="3364992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月中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64992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 A 上线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44184" y="3886200"/>
            <a:ext cx="182880" cy="18288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9" name="Text 16"/>
          <p:cNvSpPr/>
          <p:nvPr/>
        </p:nvSpPr>
        <p:spPr>
          <a:xfrm>
            <a:off x="5815584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月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815584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华东仓投产; 双十一复盘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494776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22" name="Text 19"/>
          <p:cNvSpPr/>
          <p:nvPr/>
        </p:nvSpPr>
        <p:spPr>
          <a:xfrm>
            <a:off x="8266176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266176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年度目标锁定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3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4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61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8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7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77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0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3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61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9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9" grpId="0"/>
      <p:bldP spid="6" grpId="0"/>
      <p:bldP spid="8" grpId="0"/>
      <p:bldP spid="10" grpId="0"/>
      <p:bldP spid="12" grpId="0"/>
      <p:bldP spid="15" grpId="0"/>
      <p:bldP spid="18" grpId="0"/>
      <p:bldP spid="21" grpId="0"/>
      <p:bldP spid="11" grpId="0"/>
      <p:bldP spid="13" grpId="0"/>
      <p:bldP spid="16" grpId="0"/>
      <p:bldP spid="19" grpId="0"/>
      <p:bldP spid="22" grpId="0"/>
      <p:bldP spid="14" grpId="0"/>
      <p:bldP spid="17" grpId="0"/>
      <p:bldP spid="20" grpId="0"/>
      <p:bldP spid="23" grpId="0"/>
      <p:bldP spid="24" grpId="0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双十一备战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11.11 大促倒计时 3 周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737360"/>
            <a:ext cx="420624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万台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57200" y="2834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备货目标（含 15% 安全库存）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120640" y="1737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备货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92240" y="17373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产线 11 月初拉满，11.1 前入库 6.5 万台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20640" y="2697480"/>
            <a:ext cx="661111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20640" y="30632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92240" y="30632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两渠道大促资源位与坑位费已确认，主推 F2 套装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120640" y="4023360"/>
            <a:ext cx="661111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43891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492240" y="43891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华东仓 11.1 投产赶上大促，临时人力 +40%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3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4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88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8" grpId="0"/>
      <p:bldP spid="9" grpId="0"/>
      <p:bldP spid="6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474720"/>
            <a:ext cx="5669280" cy="566928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46888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3611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明细数据见经营看板 · 示例数据仅供演示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经营汇报 — 智能喂食器业务</dc:title>
  <dc:subject>PptxGenJS Presentation</dc:subject>
  <dc:creator>Office-Agent</dc:creator>
  <cp:lastModifiedBy>Office-Agent</cp:lastModifiedBy>
  <cp:revision>1</cp:revision>
  <dcterms:created xsi:type="dcterms:W3CDTF">2026-10-25T14:42:53Z</dcterms:created>
  <dcterms:modified xsi:type="dcterms:W3CDTF">2026-10-25T14:42:53Z</dcterms:modified>
</cp:coreProperties>
</file>